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" panose="020B0604020202020204" charset="0"/>
      <p:regular r:id="rId15"/>
    </p:embeddedFont>
    <p:embeddedFont>
      <p:font typeface="Canva Sans Bold" panose="020B0604020202020204" charset="0"/>
      <p:regular r:id="rId16"/>
    </p:embeddedFont>
    <p:embeddedFont>
      <p:font typeface="Canva Sans Italics" panose="020B0604020202020204" charset="0"/>
      <p:regular r:id="rId17"/>
    </p:embeddedFont>
    <p:embeddedFont>
      <p:font typeface="Glacial Indifference" panose="020B0604020202020204" charset="0"/>
      <p:regular r:id="rId18"/>
    </p:embeddedFont>
    <p:embeddedFont>
      <p:font typeface="Glacial Indifference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07.07.2025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High Shipped but Low Delivered: Shipped orders (10,127) exceed delivered (9,874), which means ~250 orders are stuck in transit, returned-to-origin (RTO), or undelivered.</a:t>
            </a:r>
          </a:p>
          <a:p>
            <a:r>
              <a:rPr lang="en-US"/>
              <a:t>Choose Reliable Delivery Partners</a:t>
            </a:r>
          </a:p>
          <a:p>
            <a:r>
              <a:rPr lang="en-US"/>
              <a:t>-Partner with well-rated --logistics providers that specialize in your regions.</a:t>
            </a:r>
          </a:p>
          <a:p>
            <a:r>
              <a:rPr lang="en-US"/>
              <a:t>-Let customers choose between standard, express, or scheduled delivery slots — improves convenience and reduces refusal-at-door.</a:t>
            </a:r>
          </a:p>
          <a:p>
            <a:endParaRPr lang="en-US"/>
          </a:p>
          <a:p>
            <a:r>
              <a:rPr lang="en-US"/>
              <a:t>About 9,890 orders are still marked as Processing  fulfillment times might be slow. Stock popular products closer to high-demand regions to reduce shipping time.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Absence of structured loyalty programs or consistent follow-up limits repeat engagement.</a:t>
            </a:r>
          </a:p>
          <a:p>
            <a:endParaRPr lang="en-US"/>
          </a:p>
          <a:p>
            <a:r>
              <a:rPr lang="en-US"/>
              <a:t>Limited emotional connection with the brand and low brand recall among customers.</a:t>
            </a:r>
          </a:p>
          <a:p>
            <a:endParaRPr lang="en-US"/>
          </a:p>
          <a:p>
            <a:r>
              <a:rPr lang="en-US"/>
              <a:t>Collect and act on customer feedback — show customers their opinions matter.</a:t>
            </a:r>
          </a:p>
          <a:p>
            <a:r>
              <a:rPr lang="en-US"/>
              <a:t>Stay in touch with email, SMS, or WhatsApp campaigns — keep the brand top-of-mind.</a:t>
            </a:r>
          </a:p>
          <a:p>
            <a:r>
              <a:rPr lang="en-US"/>
              <a:t>**Surprise customers with exclusive previews, birthday offers, or freebies.</a:t>
            </a:r>
          </a:p>
          <a:p>
            <a:r>
              <a:rPr lang="en-US"/>
              <a:t>*** Build a community around the brand — engage via social media, contests, and content.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---Improving product quality, descriptions, and introducing loyalty programs are essential.</a:t>
            </a:r>
          </a:p>
          <a:p>
            <a:endParaRPr lang="en-US"/>
          </a:p>
          <a:p>
            <a:r>
              <a:rPr lang="en-US"/>
              <a:t>--Marketing efforts and inventory planning should prioritize these profitable segments while also exploring opportunities with younger audiences through trend-driven, affordable products.</a:t>
            </a:r>
          </a:p>
          <a:p>
            <a:endParaRPr lang="en-US"/>
          </a:p>
          <a:p>
            <a:r>
              <a:rPr lang="en-US"/>
              <a:t>--Strengthening logistics, after-sales support, and proactive customer engagement will reduce cancellations and improve satisfaction.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250686"/>
            <a:ext cx="11981619" cy="2076486"/>
            <a:chOff x="0" y="0"/>
            <a:chExt cx="3155653" cy="5468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55653" cy="546893"/>
            </a:xfrm>
            <a:custGeom>
              <a:avLst/>
              <a:gdLst/>
              <a:ahLst/>
              <a:cxnLst/>
              <a:rect l="l" t="t" r="r" b="b"/>
              <a:pathLst>
                <a:path w="3155653" h="546893">
                  <a:moveTo>
                    <a:pt x="0" y="0"/>
                  </a:moveTo>
                  <a:lnTo>
                    <a:pt x="3155653" y="0"/>
                  </a:lnTo>
                  <a:lnTo>
                    <a:pt x="3155653" y="546893"/>
                  </a:lnTo>
                  <a:lnTo>
                    <a:pt x="0" y="546893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55653" cy="584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98947" y="3571060"/>
            <a:ext cx="10646807" cy="129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9"/>
              </a:lnSpc>
              <a:spcBef>
                <a:spcPct val="0"/>
              </a:spcBef>
            </a:pPr>
            <a:r>
              <a:rPr lang="en-US" sz="7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Fashion Store Analysis</a:t>
            </a:r>
            <a:r>
              <a:rPr lang="en-US" sz="7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6409046"/>
            <a:ext cx="6521053" cy="712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Presented by: Anjali K.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7121516"/>
            <a:ext cx="7664053" cy="712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Last Updated : 6th July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5405" y="3591771"/>
            <a:ext cx="4505017" cy="1394314"/>
            <a:chOff x="0" y="0"/>
            <a:chExt cx="1186507" cy="3672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6507" cy="367227"/>
            </a:xfrm>
            <a:custGeom>
              <a:avLst/>
              <a:gdLst/>
              <a:ahLst/>
              <a:cxnLst/>
              <a:rect l="l" t="t" r="r" b="b"/>
              <a:pathLst>
                <a:path w="1186507" h="367227">
                  <a:moveTo>
                    <a:pt x="0" y="0"/>
                  </a:moveTo>
                  <a:lnTo>
                    <a:pt x="1186507" y="0"/>
                  </a:lnTo>
                  <a:lnTo>
                    <a:pt x="1186507" y="367227"/>
                  </a:lnTo>
                  <a:lnTo>
                    <a:pt x="0" y="367227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86507" cy="405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77434" y="3735208"/>
            <a:ext cx="3860959" cy="100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sz="5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Objective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5405" y="5440862"/>
            <a:ext cx="17332595" cy="260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sz="3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Despite growing sales, a fashion e-commerce platform faces declining profitability . To develop data-driven strategies to reduce costs  and increase profits.</a:t>
            </a:r>
          </a:p>
          <a:p>
            <a:pPr algn="l">
              <a:lnSpc>
                <a:spcPts val="5180"/>
              </a:lnSpc>
              <a:spcBef>
                <a:spcPct val="0"/>
              </a:spcBef>
            </a:pPr>
            <a:endParaRPr lang="en-US" sz="37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81068" y="2208871"/>
            <a:ext cx="7669551" cy="6885707"/>
          </a:xfrm>
          <a:custGeom>
            <a:avLst/>
            <a:gdLst/>
            <a:ahLst/>
            <a:cxnLst/>
            <a:rect l="l" t="t" r="r" b="b"/>
            <a:pathLst>
              <a:path w="7669551" h="6885707">
                <a:moveTo>
                  <a:pt x="0" y="0"/>
                </a:moveTo>
                <a:lnTo>
                  <a:pt x="7669551" y="0"/>
                </a:lnTo>
                <a:lnTo>
                  <a:pt x="7669551" y="6885708"/>
                </a:lnTo>
                <a:lnTo>
                  <a:pt x="0" y="6885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19" r="-2435" b="-2119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845675" y="1337944"/>
            <a:ext cx="4360597" cy="1105584"/>
            <a:chOff x="0" y="0"/>
            <a:chExt cx="1148470" cy="2911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8470" cy="291183"/>
            </a:xfrm>
            <a:custGeom>
              <a:avLst/>
              <a:gdLst/>
              <a:ahLst/>
              <a:cxnLst/>
              <a:rect l="l" t="t" r="r" b="b"/>
              <a:pathLst>
                <a:path w="1148470" h="291183">
                  <a:moveTo>
                    <a:pt x="0" y="0"/>
                  </a:moveTo>
                  <a:lnTo>
                    <a:pt x="1148470" y="0"/>
                  </a:lnTo>
                  <a:lnTo>
                    <a:pt x="1148470" y="291183"/>
                  </a:lnTo>
                  <a:lnTo>
                    <a:pt x="0" y="291183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8470" cy="329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45675" y="1534501"/>
            <a:ext cx="4360597" cy="712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Data Overview: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1298" y="2988419"/>
            <a:ext cx="9229947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store operates across</a:t>
            </a: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seven major states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India, namely:  Haryana, Karnataka, Maharashtra, Punjab, Tamil Nadu, Uttar Pradesh, and West Bengal.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1298" y="5086350"/>
            <a:ext cx="9229947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store operates through </a:t>
            </a: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six major online sales channels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including: Ajio, Amazon, Flipkart, Meesho, Myntra, and Nykaa.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1298" y="7101205"/>
            <a:ext cx="9229947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data has been analyzed for </a:t>
            </a: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year, from April 2024 to April 2025,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covering the store’s operations since it opened. This analysis provides key insights into its performance in the first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09761" y="3494022"/>
            <a:ext cx="9249539" cy="5860395"/>
          </a:xfrm>
          <a:custGeom>
            <a:avLst/>
            <a:gdLst/>
            <a:ahLst/>
            <a:cxnLst/>
            <a:rect l="l" t="t" r="r" b="b"/>
            <a:pathLst>
              <a:path w="9249539" h="5860395">
                <a:moveTo>
                  <a:pt x="0" y="0"/>
                </a:moveTo>
                <a:lnTo>
                  <a:pt x="9249539" y="0"/>
                </a:lnTo>
                <a:lnTo>
                  <a:pt x="9249539" y="5860395"/>
                </a:lnTo>
                <a:lnTo>
                  <a:pt x="0" y="5860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834572" y="543740"/>
            <a:ext cx="16424728" cy="2306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48"/>
              </a:lnSpc>
              <a:spcBef>
                <a:spcPct val="0"/>
              </a:spcBef>
            </a:pPr>
            <a:r>
              <a:rPr lang="en-US" sz="33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returned orders (red) stand out and are a serious concern — more </a:t>
            </a:r>
            <a:r>
              <a:rPr lang="en-US" sz="33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orders are being returned</a:t>
            </a:r>
            <a:r>
              <a:rPr lang="en-US" sz="33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than successfully delivered. </a:t>
            </a:r>
          </a:p>
          <a:p>
            <a:pPr algn="just">
              <a:lnSpc>
                <a:spcPts val="4648"/>
              </a:lnSpc>
              <a:spcBef>
                <a:spcPct val="0"/>
              </a:spcBef>
            </a:pPr>
            <a:endParaRPr lang="en-US" sz="332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648"/>
              </a:lnSpc>
              <a:spcBef>
                <a:spcPct val="0"/>
              </a:spcBef>
            </a:pPr>
            <a:r>
              <a:rPr lang="en-US" sz="33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Both </a:t>
            </a:r>
            <a:r>
              <a:rPr lang="en-US" sz="3320" b="1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returned + cancelled = undelivered</a:t>
            </a:r>
            <a:r>
              <a:rPr lang="en-US" sz="33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orders are </a:t>
            </a:r>
            <a:r>
              <a:rPr lang="en-US" sz="3320" b="1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dragging down profitability.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4572" y="3011094"/>
            <a:ext cx="6390926" cy="581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endParaRPr/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 </a:t>
            </a: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Shipped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but </a:t>
            </a: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Low Delivered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Indicates</a:t>
            </a: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inefficiency in the logistics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 customer non-acceptance at delivery.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Audit returned orders for common reasons — incorrect sizes, damaged goods, misleading descriptions.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854" y="3116748"/>
            <a:ext cx="12302280" cy="5417848"/>
          </a:xfrm>
          <a:custGeom>
            <a:avLst/>
            <a:gdLst/>
            <a:ahLst/>
            <a:cxnLst/>
            <a:rect l="l" t="t" r="r" b="b"/>
            <a:pathLst>
              <a:path w="12302280" h="5417848">
                <a:moveTo>
                  <a:pt x="0" y="0"/>
                </a:moveTo>
                <a:lnTo>
                  <a:pt x="12302280" y="0"/>
                </a:lnTo>
                <a:lnTo>
                  <a:pt x="12302280" y="5417848"/>
                </a:lnTo>
                <a:lnTo>
                  <a:pt x="0" y="5417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19" b="-61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609854" y="1383429"/>
            <a:ext cx="5659977" cy="503555"/>
            <a:chOff x="0" y="0"/>
            <a:chExt cx="1490693" cy="13262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90693" cy="132624"/>
            </a:xfrm>
            <a:custGeom>
              <a:avLst/>
              <a:gdLst/>
              <a:ahLst/>
              <a:cxnLst/>
              <a:rect l="l" t="t" r="r" b="b"/>
              <a:pathLst>
                <a:path w="1490693" h="132624">
                  <a:moveTo>
                    <a:pt x="0" y="0"/>
                  </a:moveTo>
                  <a:lnTo>
                    <a:pt x="1490693" y="0"/>
                  </a:lnTo>
                  <a:lnTo>
                    <a:pt x="1490693" y="132624"/>
                  </a:lnTo>
                  <a:lnTo>
                    <a:pt x="0" y="132624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90693" cy="1707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09854" y="1335804"/>
            <a:ext cx="17678146" cy="105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May shows the highest sales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(sum of amount) and also a high customer count —  due to a </a:t>
            </a:r>
            <a:r>
              <a:rPr lang="en-US" sz="3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seasonal campaign  and end-of-season summer sale.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24983" y="3650797"/>
            <a:ext cx="4781001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February and June show dips in customer count and sales — these months need </a:t>
            </a: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additional marketing efforts.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24983" y="6470428"/>
            <a:ext cx="4781001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number of customers (yellow bars) is </a:t>
            </a: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fairly stable between ~1900–2200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across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11806" y="2600247"/>
            <a:ext cx="3503923" cy="6484873"/>
          </a:xfrm>
          <a:custGeom>
            <a:avLst/>
            <a:gdLst/>
            <a:ahLst/>
            <a:cxnLst/>
            <a:rect l="l" t="t" r="r" b="b"/>
            <a:pathLst>
              <a:path w="3503923" h="6484873">
                <a:moveTo>
                  <a:pt x="0" y="0"/>
                </a:moveTo>
                <a:lnTo>
                  <a:pt x="3503923" y="0"/>
                </a:lnTo>
                <a:lnTo>
                  <a:pt x="3503923" y="6484874"/>
                </a:lnTo>
                <a:lnTo>
                  <a:pt x="0" y="6484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408848" y="962025"/>
            <a:ext cx="15470303" cy="1215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4"/>
              </a:lnSpc>
              <a:spcBef>
                <a:spcPct val="0"/>
              </a:spcBef>
            </a:pPr>
            <a:r>
              <a:rPr lang="en-US" sz="351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return rate</a:t>
            </a:r>
            <a:r>
              <a:rPr lang="en-US" sz="35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sz="351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negligible retention</a:t>
            </a:r>
            <a:r>
              <a:rPr lang="en-US" sz="35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are </a:t>
            </a:r>
            <a:r>
              <a:rPr lang="en-US" sz="3517" b="1">
                <a:solidFill>
                  <a:srgbClr val="FF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eroding profitability</a:t>
            </a:r>
            <a:r>
              <a:rPr lang="en-US" sz="35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despite a good AOV.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08848" y="2543097"/>
            <a:ext cx="8055425" cy="722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endParaRPr/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Extremely Low Customer Retention. </a:t>
            </a: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relationships and loyalty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are still developing as the business is newly launched. 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Launch loyalty and rewards programs — offer </a:t>
            </a:r>
            <a:r>
              <a: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points and discounts for repeat purchases.</a:t>
            </a:r>
          </a:p>
          <a:p>
            <a:pPr algn="l">
              <a:lnSpc>
                <a:spcPts val="3779"/>
              </a:lnSpc>
            </a:pPr>
            <a:endParaRPr lang="en-US" sz="26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82928" lvl="1" indent="-291464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Improve after-sales support — quick responses, easy exchanges, and friendly service</a:t>
            </a:r>
            <a:r>
              <a: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build trust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 </a:t>
            </a:r>
            <a:r>
              <a: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emotional connection.</a:t>
            </a:r>
          </a:p>
          <a:p>
            <a:pPr algn="l">
              <a:lnSpc>
                <a:spcPts val="3779"/>
              </a:lnSpc>
            </a:pPr>
            <a:endParaRPr lang="en-US" sz="26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779"/>
              </a:lnSpc>
            </a:pPr>
            <a:endParaRPr lang="en-US" sz="26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779"/>
              </a:lnSpc>
            </a:pPr>
            <a:endParaRPr lang="en-US" sz="26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98085" y="2753066"/>
            <a:ext cx="7561215" cy="5515239"/>
          </a:xfrm>
          <a:custGeom>
            <a:avLst/>
            <a:gdLst/>
            <a:ahLst/>
            <a:cxnLst/>
            <a:rect l="l" t="t" r="r" b="b"/>
            <a:pathLst>
              <a:path w="7561215" h="5515239">
                <a:moveTo>
                  <a:pt x="0" y="0"/>
                </a:moveTo>
                <a:lnTo>
                  <a:pt x="7561215" y="0"/>
                </a:lnTo>
                <a:lnTo>
                  <a:pt x="7561215" y="5515239"/>
                </a:lnTo>
                <a:lnTo>
                  <a:pt x="0" y="551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837692" y="697393"/>
            <a:ext cx="16940059" cy="1305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8"/>
              </a:lnSpc>
              <a:spcBef>
                <a:spcPct val="0"/>
              </a:spcBef>
            </a:pPr>
            <a:r>
              <a:rPr lang="en-US" sz="3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majority of sales (77%) come from </a:t>
            </a:r>
            <a:r>
              <a:rPr lang="en-US" sz="37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Senior(50+) and Mature Adult(30-50) age groups</a:t>
            </a:r>
            <a:r>
              <a:rPr lang="en-US" sz="3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— these should be the primary target audiences.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7692" y="3173704"/>
            <a:ext cx="7844486" cy="1298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6572" lvl="1" indent="-268286" algn="l">
              <a:lnSpc>
                <a:spcPts val="3479"/>
              </a:lnSpc>
              <a:buFont typeface="Arial"/>
              <a:buChar char="•"/>
            </a:pP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Young Adults contribute only 19%. Product assortment is</a:t>
            </a:r>
            <a:r>
              <a:rPr lang="en-US" sz="248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not aligned with trends or preferences of younger audiences.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7692" y="5095875"/>
            <a:ext cx="7844486" cy="86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6572" lvl="1" indent="-268286" algn="l">
              <a:lnSpc>
                <a:spcPts val="3479"/>
              </a:lnSpc>
              <a:buFont typeface="Arial"/>
              <a:buChar char="•"/>
            </a:pP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Price points may be </a:t>
            </a:r>
            <a:r>
              <a:rPr lang="en-US" sz="248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 high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for these segments.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7692" y="6575799"/>
            <a:ext cx="7844486" cy="1298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6572" lvl="1" indent="-268286" algn="l">
              <a:lnSpc>
                <a:spcPts val="3479"/>
              </a:lnSpc>
              <a:buFont typeface="Arial"/>
              <a:buChar char="•"/>
            </a:pP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Opportunity: we can introduce more trend-driven, affordable to attract  younger demographics.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5714" y="-133514"/>
            <a:ext cx="18816088" cy="10683669"/>
            <a:chOff x="0" y="0"/>
            <a:chExt cx="4955677" cy="2813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55677" cy="2813806"/>
            </a:xfrm>
            <a:custGeom>
              <a:avLst/>
              <a:gdLst/>
              <a:ahLst/>
              <a:cxnLst/>
              <a:rect l="l" t="t" r="r" b="b"/>
              <a:pathLst>
                <a:path w="4955677" h="2813806">
                  <a:moveTo>
                    <a:pt x="0" y="0"/>
                  </a:moveTo>
                  <a:lnTo>
                    <a:pt x="4955677" y="0"/>
                  </a:lnTo>
                  <a:lnTo>
                    <a:pt x="4955677" y="2813806"/>
                  </a:lnTo>
                  <a:lnTo>
                    <a:pt x="0" y="2813806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55677" cy="28519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5316" y="2345254"/>
            <a:ext cx="47625" cy="6087655"/>
            <a:chOff x="0" y="0"/>
            <a:chExt cx="12543" cy="1603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43" cy="1603333"/>
            </a:xfrm>
            <a:custGeom>
              <a:avLst/>
              <a:gdLst/>
              <a:ahLst/>
              <a:cxnLst/>
              <a:rect l="l" t="t" r="r" b="b"/>
              <a:pathLst>
                <a:path w="12543" h="1603333">
                  <a:moveTo>
                    <a:pt x="0" y="0"/>
                  </a:moveTo>
                  <a:lnTo>
                    <a:pt x="12543" y="0"/>
                  </a:lnTo>
                  <a:lnTo>
                    <a:pt x="12543" y="1603333"/>
                  </a:lnTo>
                  <a:lnTo>
                    <a:pt x="0" y="1603333"/>
                  </a:lnTo>
                  <a:close/>
                </a:path>
              </a:pathLst>
            </a:custGeom>
            <a:solidFill>
              <a:srgbClr val="000000">
                <a:alpha val="4078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543" cy="1641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16626" y="4230588"/>
            <a:ext cx="8616179" cy="1755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94"/>
              </a:lnSpc>
              <a:spcBef>
                <a:spcPct val="0"/>
              </a:spcBef>
            </a:pPr>
            <a:r>
              <a:rPr lang="en-US" sz="1021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</a:t>
            </a:r>
            <a:r>
              <a:rPr lang="en-US" sz="1021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76517" y="2670018"/>
            <a:ext cx="2103773" cy="21037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52115" y="2670018"/>
            <a:ext cx="2103773" cy="21037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504834" y="2670018"/>
            <a:ext cx="2103773" cy="210377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536518" y="3237878"/>
            <a:ext cx="2383771" cy="863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7"/>
              </a:lnSpc>
              <a:spcBef>
                <a:spcPct val="0"/>
              </a:spcBef>
            </a:pPr>
            <a:r>
              <a:rPr lang="en-US" sz="501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12116" y="3237878"/>
            <a:ext cx="2383771" cy="863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7"/>
              </a:lnSpc>
              <a:spcBef>
                <a:spcPct val="0"/>
              </a:spcBef>
            </a:pPr>
            <a:r>
              <a:rPr lang="en-US" sz="501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67711" y="3237878"/>
            <a:ext cx="2383771" cy="863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7"/>
              </a:lnSpc>
              <a:spcBef>
                <a:spcPct val="0"/>
              </a:spcBef>
            </a:pPr>
            <a:r>
              <a:rPr lang="en-US" sz="501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36762" y="269440"/>
            <a:ext cx="5214476" cy="1148732"/>
            <a:chOff x="0" y="0"/>
            <a:chExt cx="1373360" cy="3025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73360" cy="302547"/>
            </a:xfrm>
            <a:custGeom>
              <a:avLst/>
              <a:gdLst/>
              <a:ahLst/>
              <a:cxnLst/>
              <a:rect l="l" t="t" r="r" b="b"/>
              <a:pathLst>
                <a:path w="1373360" h="302547">
                  <a:moveTo>
                    <a:pt x="0" y="0"/>
                  </a:moveTo>
                  <a:lnTo>
                    <a:pt x="1373360" y="0"/>
                  </a:lnTo>
                  <a:lnTo>
                    <a:pt x="1373360" y="302547"/>
                  </a:lnTo>
                  <a:lnTo>
                    <a:pt x="0" y="302547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73360" cy="340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350085" y="359084"/>
            <a:ext cx="3587830" cy="878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6"/>
              </a:lnSpc>
              <a:spcBef>
                <a:spcPct val="0"/>
              </a:spcBef>
            </a:pPr>
            <a:r>
              <a:rPr lang="en-US" sz="514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1603" y="5488555"/>
            <a:ext cx="4673602" cy="27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4"/>
              </a:lnSpc>
              <a:spcBef>
                <a:spcPct val="0"/>
              </a:spcBef>
            </a:pPr>
            <a:r>
              <a:rPr lang="en-US" sz="26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store suffers from a</a:t>
            </a:r>
            <a:r>
              <a:rPr lang="en-US" sz="263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high return rate and very low customer retention</a:t>
            </a:r>
            <a:r>
              <a:rPr lang="en-US" sz="26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which offset the benefits of good sales and average order value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20848" y="5488555"/>
            <a:ext cx="4166307" cy="184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 sales come from </a:t>
            </a:r>
            <a:r>
              <a:rPr lang="en-US" sz="263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Senior (50+) and Mature Adult (30–50) </a:t>
            </a: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customers and from certain regions.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76443" y="5488555"/>
            <a:ext cx="4166307" cy="2314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  <a:spcBef>
                <a:spcPct val="0"/>
              </a:spcBef>
            </a:pP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 shipped </a:t>
            </a:r>
            <a:r>
              <a:rPr lang="en-US" sz="263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but low delivered orders indicate inefficiencies</a:t>
            </a: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delivery and customer acceptance.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99257" y="272853"/>
            <a:ext cx="6421343" cy="1207121"/>
            <a:chOff x="0" y="0"/>
            <a:chExt cx="1536485" cy="3179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6485" cy="317925"/>
            </a:xfrm>
            <a:custGeom>
              <a:avLst/>
              <a:gdLst/>
              <a:ahLst/>
              <a:cxnLst/>
              <a:rect l="l" t="t" r="r" b="b"/>
              <a:pathLst>
                <a:path w="1536485" h="317925">
                  <a:moveTo>
                    <a:pt x="80951" y="0"/>
                  </a:moveTo>
                  <a:lnTo>
                    <a:pt x="1455534" y="0"/>
                  </a:lnTo>
                  <a:cubicBezTo>
                    <a:pt x="1500242" y="0"/>
                    <a:pt x="1536485" y="36243"/>
                    <a:pt x="1536485" y="80951"/>
                  </a:cubicBezTo>
                  <a:lnTo>
                    <a:pt x="1536485" y="236973"/>
                  </a:lnTo>
                  <a:cubicBezTo>
                    <a:pt x="1536485" y="281682"/>
                    <a:pt x="1500242" y="317925"/>
                    <a:pt x="1455534" y="317925"/>
                  </a:cubicBezTo>
                  <a:lnTo>
                    <a:pt x="80951" y="317925"/>
                  </a:lnTo>
                  <a:cubicBezTo>
                    <a:pt x="36243" y="317925"/>
                    <a:pt x="0" y="281682"/>
                    <a:pt x="0" y="236973"/>
                  </a:cubicBezTo>
                  <a:lnTo>
                    <a:pt x="0" y="80951"/>
                  </a:lnTo>
                  <a:cubicBezTo>
                    <a:pt x="0" y="36243"/>
                    <a:pt x="36243" y="0"/>
                    <a:pt x="8095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36485" cy="356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18295" y="2719535"/>
            <a:ext cx="17851410" cy="6237337"/>
          </a:xfrm>
          <a:custGeom>
            <a:avLst/>
            <a:gdLst/>
            <a:ahLst/>
            <a:cxnLst/>
            <a:rect l="l" t="t" r="r" b="b"/>
            <a:pathLst>
              <a:path w="17851410" h="6237337">
                <a:moveTo>
                  <a:pt x="0" y="0"/>
                </a:moveTo>
                <a:lnTo>
                  <a:pt x="17851410" y="0"/>
                </a:lnTo>
                <a:lnTo>
                  <a:pt x="17851410" y="6237336"/>
                </a:lnTo>
                <a:lnTo>
                  <a:pt x="0" y="6237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75" t="-4374" r="-1069" b="-198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6723287" y="310840"/>
            <a:ext cx="5316313" cy="994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00"/>
              </a:lnSpc>
              <a:spcBef>
                <a:spcPct val="0"/>
              </a:spcBef>
            </a:pPr>
            <a:r>
              <a:rPr lang="en-US" sz="5928" b="1" dirty="0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1000" y="1867776"/>
            <a:ext cx="4800600" cy="455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sz="273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Created on : 13 April 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30200" y="9486900"/>
            <a:ext cx="5638799" cy="455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7"/>
              </a:lnSpc>
              <a:spcBef>
                <a:spcPct val="0"/>
              </a:spcBef>
            </a:pPr>
            <a:r>
              <a:rPr lang="en-US" sz="273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Created by: Anjali 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2001" y="923925"/>
            <a:ext cx="3630411" cy="95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93"/>
              </a:lnSpc>
              <a:spcBef>
                <a:spcPct val="0"/>
              </a:spcBef>
            </a:pPr>
            <a:r>
              <a:rPr lang="en-US" sz="56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Appendix: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25827" y="2149321"/>
            <a:ext cx="16436346" cy="7108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569" lvl="1" indent="-326285" algn="l">
              <a:lnSpc>
                <a:spcPts val="4231"/>
              </a:lnSpc>
              <a:buFont typeface="Arial"/>
              <a:buChar char="•"/>
            </a:pP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 Returns &amp; Low Retention Hurt Profitability: The store suffers from a high return rate and very low customer retention, which offset the benefits of good sales and average order value. Improving product quality, descriptions, and introducing loyalty programs are essential.</a:t>
            </a:r>
          </a:p>
          <a:p>
            <a:pPr marL="652569" lvl="1" indent="-326285" algn="l">
              <a:lnSpc>
                <a:spcPts val="4231"/>
              </a:lnSpc>
              <a:buFont typeface="Arial"/>
              <a:buChar char="•"/>
            </a:pP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Focus on Key Demographics &amp; Regions: Most sales come from Senior (50+) and Mature Adult (30–50) customers and from certain regions. Marketing efforts and inventory planning should prioritize these profitable segments while also exploring opportunities with younger audiences through trend-driven, affordable products.</a:t>
            </a:r>
          </a:p>
          <a:p>
            <a:pPr marL="652569" lvl="1" indent="-326285" algn="l">
              <a:lnSpc>
                <a:spcPts val="4231"/>
              </a:lnSpc>
              <a:buFont typeface="Arial"/>
              <a:buChar char="•"/>
            </a:pP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Logistics &amp; Customer Experience Need Improvement: High shipped but low delivered orders indicate inefficiencies in delivery and customer acceptance. Strengthening logistics, after-sales support, and proactive customer engagement will reduce cancellations and improve satisfaction.</a:t>
            </a:r>
          </a:p>
          <a:p>
            <a:pPr algn="l">
              <a:lnSpc>
                <a:spcPts val="5944"/>
              </a:lnSpc>
            </a:pPr>
            <a:endParaRPr lang="en-US" sz="3022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491164" y="643723"/>
            <a:ext cx="10948869" cy="69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1"/>
              </a:lnSpc>
              <a:spcBef>
                <a:spcPct val="0"/>
              </a:spcBef>
            </a:pPr>
            <a:r>
              <a:rPr lang="en-US" sz="41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Scope for further analysis :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033557"/>
            <a:ext cx="13818635" cy="114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5791" lvl="1" indent="-357896" algn="l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Are returns concentrated on specific products, categories, sizes, or customer segments?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873396"/>
            <a:ext cx="13818635" cy="114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5791" lvl="1" indent="-357896" algn="l">
              <a:lnSpc>
                <a:spcPts val="4641"/>
              </a:lnSpc>
              <a:buFont typeface="Arial"/>
              <a:buChar char="•"/>
            </a:pPr>
            <a:r>
              <a:rPr lang="en-US" sz="33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Are there specific products or categories we should discontinue or promote?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895</Words>
  <Application>Microsoft Office PowerPoint</Application>
  <PresentationFormat>Custom</PresentationFormat>
  <Paragraphs>74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Glacial Indifference</vt:lpstr>
      <vt:lpstr>Arial</vt:lpstr>
      <vt:lpstr>Canva Sans Italics</vt:lpstr>
      <vt:lpstr>Canva Sans</vt:lpstr>
      <vt:lpstr>Calibri</vt:lpstr>
      <vt:lpstr>Canva Sans Bold</vt:lpstr>
      <vt:lpstr>Glacial Indifference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Fashion Store Analysis</dc:title>
  <dc:creator>JANKI ANJALI</dc:creator>
  <cp:lastModifiedBy>Kunal Kumar</cp:lastModifiedBy>
  <cp:revision>2</cp:revision>
  <dcterms:created xsi:type="dcterms:W3CDTF">2006-08-16T00:00:00Z</dcterms:created>
  <dcterms:modified xsi:type="dcterms:W3CDTF">2025-07-07T18:31:58Z</dcterms:modified>
  <dc:identifier>DAGsad9ZToY</dc:identifier>
</cp:coreProperties>
</file>